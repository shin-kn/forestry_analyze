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0">
                <a:solidFill>
                  <a:srgbClr val="8A8A80"/>
                </a:solidFill>
                <a:latin typeface="Meiryo"/>
                <a:ea typeface="Meiryo"/>
              </a:rPr>
              <a:t>齢級別の人工林面積（万ha・サンプル値）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人工林面積</c:v>
                </c:pt>
              </c:strCache>
            </c:strRef>
          </c:tx>
          <c:dPt>
            <c:idx val="0"/>
            <c:spPr>
              <a:solidFill>
                <a:srgbClr val="2C7A46"/>
              </a:solidFill>
            </c:spPr>
          </c:dPt>
          <c:dPt>
            <c:idx val="1"/>
            <c:spPr>
              <a:solidFill>
                <a:srgbClr val="2C7A46"/>
              </a:solidFill>
            </c:spPr>
          </c:dPt>
          <c:dPt>
            <c:idx val="2"/>
            <c:spPr>
              <a:solidFill>
                <a:srgbClr val="C88A00"/>
              </a:solidFill>
            </c:spPr>
          </c:dPt>
          <c:dPt>
            <c:idx val="3"/>
            <c:spPr>
              <a:solidFill>
                <a:srgbClr val="2C7A46"/>
              </a:solidFill>
            </c:spPr>
          </c:dPt>
          <c:cat>
            <c:strRef>
              <c:f>Sheet1!$A$2:$A$5</c:f>
              <c:strCache>
                <c:ptCount val="4"/>
                <c:pt idx="0">
                  <c:v>～30年生</c:v>
                </c:pt>
                <c:pt idx="1">
                  <c:v>31～50年生</c:v>
                </c:pt>
                <c:pt idx="2">
                  <c:v>51～70年生</c:v>
                </c:pt>
                <c:pt idx="3">
                  <c:v>71年生～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210</c:v>
                </c:pt>
                <c:pt idx="2">
                  <c:v>560</c:v>
                </c:pt>
                <c:pt idx="3">
                  <c:v>140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2C7A46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DD6"/>
            </a:solidFill>
          </a:ln>
        </c:spPr>
        <c:txPr>
          <a:bodyPr/>
          <a:lstStyle/>
          <a:p>
            <a:pPr>
              <a:defRPr sz="1150">
                <a:solidFill>
                  <a:srgbClr val="1A1A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DDDD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8A8A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8A80"/>
          </a:solidFill>
          <a:latin typeface="Meiry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0">
                <a:solidFill>
                  <a:srgbClr val="8A8A80"/>
                </a:solidFill>
                <a:latin typeface="Meiryo"/>
                <a:ea typeface="Meiryo"/>
              </a:rPr>
              <a:t>木材自給率の推移（％・サンプル値）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木材自給率</c:v>
                </c:pt>
              </c:strCache>
            </c:strRef>
          </c:tx>
          <c:spPr>
            <a:ln w="27940">
              <a:solidFill>
                <a:srgbClr val="2C7A46"/>
              </a:solidFill>
            </a:ln>
          </c:spPr>
          <c:marker>
            <c:spPr>
              <a:solidFill>
                <a:srgbClr val="2C7A4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18.2</c:v>
                </c:pt>
                <c:pt idx="1">
                  <c:v>20.3</c:v>
                </c:pt>
                <c:pt idx="2">
                  <c:v>26.0</c:v>
                </c:pt>
                <c:pt idx="3">
                  <c:v>33.3</c:v>
                </c:pt>
                <c:pt idx="4">
                  <c:v>41.8</c:v>
                </c:pt>
                <c:pt idx="5">
                  <c:v>43.0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 b="1">
                  <a:solidFill>
                    <a:srgbClr val="2C7A46"/>
                  </a:solidFill>
                  <a:latin typeface="Consola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DD6"/>
            </a:solidFill>
          </a:ln>
        </c:spPr>
        <c:txPr>
          <a:bodyPr/>
          <a:lstStyle/>
          <a:p>
            <a:pPr>
              <a:defRPr sz="1150">
                <a:solidFill>
                  <a:srgbClr val="1A1A1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0.0"/>
        </c:scaling>
        <c:delete val="0"/>
        <c:axPos val="l"/>
        <c:majorGridlines>
          <c:spPr>
            <a:ln w="9525">
              <a:solidFill>
                <a:srgbClr val="DDDDD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8A8A80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8A8A80"/>
          </a:solidFill>
          <a:latin typeface="Meiry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PowerPoint生成のサンプル。戦後に植えた人工林が一斉に主伐期を迎えた、という一点だけ持ち帰ってもらえれば十分です。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パイプラインの3番目で止まっている、という絵を先に見せる。以降のスライドはこの図のどこの話かを常に指し示す。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3つの数字だけ覚えてもらう。特に3つ目、林齢50年超が後半の主伐の話につながる。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3つとも「木が足りない」話ではない点を強調する。資源はあるのに回らない、という構造の問題として提示する。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51〜70年生が突出しているところを指す。この山を計画的に崩しながら植え直すのが今後20年の仕事になる。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上向きのトレンドを示しつつ、半分以上はまだ輸入材だという点も併せて触れる。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3つはセットで初めて回る、という順序で締める。特に03の需要側がないと、01と02はコスト増にしかならない。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5681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000" b="1">
                <a:solidFill>
                  <a:srgbClr val="1A1A18"/>
                </a:solidFill>
                <a:latin typeface="Meiryo"/>
                <a:ea typeface="Meiryo"/>
              </a:rPr>
              <a:t>日本の林業のいま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8529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2C7A46"/>
                </a:solidFill>
                <a:latin typeface="Consolas"/>
                <a:ea typeface="Meiryo"/>
              </a:rPr>
              <a:t>forestry in japan - resource, cost, and demand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33271" y="3401568"/>
            <a:ext cx="3840481" cy="0"/>
          </a:xfrm>
          <a:prstGeom prst="line">
            <a:avLst/>
          </a:prstGeom>
          <a:ln w="15240">
            <a:solidFill>
              <a:srgbClr val="C8C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33271" y="3621024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4A4A44"/>
                </a:solidFill>
                <a:latin typeface="Meiryo"/>
                <a:ea typeface="Meiryo"/>
              </a:rPr>
              <a:t>資源はすでに育っている。</a:t>
            </a:r>
            <a:br/>
            <a:r>
              <a:rPr sz="1500" b="1">
                <a:solidFill>
                  <a:srgbClr val="4A4A44"/>
                </a:solidFill>
                <a:latin typeface="Meiryo"/>
                <a:ea typeface="Meiryo"/>
              </a:rPr>
              <a:t>課題は「伐る・植える・使う」を一本の線につなぎ直すこと。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5989320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8A8A80"/>
                </a:solidFill>
                <a:latin typeface="Meiryo"/>
                <a:ea typeface="Meiryo"/>
              </a:rPr>
              <a:t>サンプルプレゼンテーション ／ 2026年9月 ／ 数値はデモ用の概数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8A8A80"/>
                </a:solidFill>
                <a:latin typeface="Consolas"/>
                <a:ea typeface="Meiryo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800" b="1">
                <a:solidFill>
                  <a:srgbClr val="1A1A18"/>
                </a:solidFill>
                <a:latin typeface="Meiryo"/>
                <a:ea typeface="Meiryo"/>
              </a:rPr>
              <a:t>全体像 — 資源は育った。滞っているのは「使う」側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316736"/>
            <a:ext cx="10863072" cy="0"/>
          </a:xfrm>
          <a:prstGeom prst="line">
            <a:avLst/>
          </a:prstGeom>
          <a:ln w="12700">
            <a:solidFill>
              <a:srgbClr val="DD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783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65960"/>
            <a:ext cx="160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1">
                <a:solidFill>
                  <a:srgbClr val="1A1A18"/>
                </a:solidFill>
                <a:latin typeface="Meiryo"/>
                <a:ea typeface="Meiryo"/>
              </a:rPr>
              <a:t>植える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再造林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5" y="1783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2384" y="1965960"/>
            <a:ext cx="160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1">
                <a:solidFill>
                  <a:srgbClr val="1A1A18"/>
                </a:solidFill>
                <a:latin typeface="Meiryo"/>
                <a:ea typeface="Meiryo"/>
              </a:rPr>
              <a:t>育てる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間伐・保育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79" y="2240280"/>
            <a:ext cx="146305" cy="0"/>
          </a:xfrm>
          <a:prstGeom prst="line">
            <a:avLst/>
          </a:prstGeom>
          <a:ln w="12700">
            <a:solidFill>
              <a:srgbClr val="C8C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84064" y="1783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85231" y="1965960"/>
            <a:ext cx="160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1">
                <a:solidFill>
                  <a:srgbClr val="1A1A18"/>
                </a:solidFill>
                <a:latin typeface="Meiryo"/>
                <a:ea typeface="Meiryo"/>
              </a:rPr>
              <a:t>伐る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主伐・搬出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0327" y="2240280"/>
            <a:ext cx="146304" cy="0"/>
          </a:xfrm>
          <a:prstGeom prst="line">
            <a:avLst/>
          </a:prstGeom>
          <a:ln w="12700">
            <a:solidFill>
              <a:srgbClr val="C8C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96912" y="1783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965960"/>
            <a:ext cx="160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1">
                <a:solidFill>
                  <a:srgbClr val="1A1A18"/>
                </a:solidFill>
                <a:latin typeface="Meiryo"/>
                <a:ea typeface="Meiryo"/>
              </a:rPr>
              <a:t>運ぶ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流通・加工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23175" y="2240280"/>
            <a:ext cx="146304" cy="0"/>
          </a:xfrm>
          <a:prstGeom prst="line">
            <a:avLst/>
          </a:prstGeom>
          <a:ln w="12700">
            <a:solidFill>
              <a:srgbClr val="C8C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09760" y="1783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0928" y="1965960"/>
            <a:ext cx="160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50" b="1">
                <a:solidFill>
                  <a:srgbClr val="1A1A18"/>
                </a:solidFill>
                <a:latin typeface="Meiryo"/>
                <a:ea typeface="Meiryo"/>
              </a:rPr>
              <a:t>使う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建築・製品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36024" y="2240280"/>
            <a:ext cx="146304" cy="0"/>
          </a:xfrm>
          <a:prstGeom prst="line">
            <a:avLst/>
          </a:prstGeom>
          <a:ln w="12700">
            <a:solidFill>
              <a:srgbClr val="C8C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84064" y="27889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C88A00"/>
                </a:solidFill>
                <a:latin typeface="Meiryo"/>
                <a:ea typeface="Meiryo"/>
              </a:rPr>
              <a:t>↑ ここで詰まっている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310128"/>
            <a:ext cx="45720" cy="219456"/>
          </a:xfrm>
          <a:prstGeom prst="rect">
            <a:avLst/>
          </a:prstGeom>
          <a:solidFill>
            <a:srgbClr val="2C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2918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2C7A46"/>
                </a:solidFill>
                <a:latin typeface="Meiryo"/>
                <a:ea typeface="Meiryo"/>
              </a:rPr>
              <a:t>資源量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675887"/>
            <a:ext cx="3227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人工林の過半が50年生を超え、主伐できる木は十分に育っている。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1" y="3310128"/>
            <a:ext cx="45720" cy="219456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32918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C88A00"/>
                </a:solidFill>
                <a:latin typeface="Meiryo"/>
                <a:ea typeface="Meiryo"/>
              </a:rPr>
              <a:t>コスト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3675887"/>
            <a:ext cx="3227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立木価格が低く、搬出と再造林の費用を伐採収入で賄いにくい。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3310128"/>
            <a:ext cx="45720" cy="2194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32918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2A78D6"/>
                </a:solidFill>
                <a:latin typeface="Meiryo"/>
                <a:ea typeface="Meiryo"/>
              </a:rPr>
              <a:t>需要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3675887"/>
            <a:ext cx="3227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国産材を量で使い切る出口が細く、価格が上がりにくい。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590288"/>
            <a:ext cx="10863072" cy="1389888"/>
          </a:xfrm>
          <a:prstGeom prst="roundRect">
            <a:avLst>
              <a:gd name="adj" fmla="val 5000"/>
            </a:avLst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79145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1A1A18"/>
                </a:solidFill>
                <a:latin typeface="Meiryo"/>
                <a:ea typeface="Meiryo"/>
              </a:rPr>
              <a:t>設計の芯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175504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A4A44"/>
                </a:solidFill>
                <a:latin typeface="Meiryo"/>
                <a:ea typeface="Meiryo"/>
              </a:rPr>
              <a:t>木が足りないのではない。育った木を伐り出し、跡地に植え直し、製品として使い切る——</a:t>
            </a:r>
            <a:br/>
            <a:r>
              <a:rPr sz="1250" b="0">
                <a:solidFill>
                  <a:srgbClr val="4A4A44"/>
                </a:solidFill>
                <a:latin typeface="Meiryo"/>
                <a:ea typeface="Meiryo"/>
              </a:rPr>
              <a:t>この循環のどこか一か所でも詰まれば、森林は資源のまま滞留する。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8A8A80"/>
                </a:solidFill>
                <a:latin typeface="Consolas"/>
                <a:ea typeface="Meiryo"/>
              </a:rPr>
              <a:t>KEY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800" b="1">
                <a:solidFill>
                  <a:srgbClr val="1A1A18"/>
                </a:solidFill>
                <a:latin typeface="Meiryo"/>
                <a:ea typeface="Meiryo"/>
              </a:rPr>
              <a:t>数字で見る、日本の森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316736"/>
            <a:ext cx="10863072" cy="0"/>
          </a:xfrm>
          <a:prstGeom prst="line">
            <a:avLst/>
          </a:prstGeom>
          <a:ln w="12700">
            <a:solidFill>
              <a:srgbClr val="DD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291072"/>
            <a:ext cx="10863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8A8A80"/>
                </a:solidFill>
                <a:latin typeface="Meiryo"/>
                <a:ea typeface="Meiryo"/>
              </a:rPr>
              <a:t>※ 本資料はサンプルです。数値はデモ用の概数で、特定の統計を出典としたものではありません。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29000" cy="2606040"/>
          </a:xfrm>
          <a:prstGeom prst="roundRect">
            <a:avLst>
              <a:gd name="adj" fmla="val 5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066543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600" b="1">
                <a:solidFill>
                  <a:srgbClr val="2C7A46"/>
                </a:solidFill>
                <a:latin typeface="Consolas"/>
                <a:ea typeface="Meiryo"/>
              </a:rPr>
              <a:t>2/3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01752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1A1A18"/>
                </a:solidFill>
                <a:latin typeface="Meiryo"/>
                <a:ea typeface="Meiryo"/>
              </a:rPr>
              <a:t>国土に占める森林の割合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3438144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森林面積はおよそ2,500万ha。</a:t>
            </a:r>
            <a:br/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先進国のなかでも上位の水準。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783080"/>
            <a:ext cx="3429000" cy="2606040"/>
          </a:xfrm>
          <a:prstGeom prst="roundRect">
            <a:avLst>
              <a:gd name="adj" fmla="val 5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7" y="2066543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600" b="1">
                <a:solidFill>
                  <a:srgbClr val="2C7A46"/>
                </a:solidFill>
                <a:latin typeface="Consolas"/>
                <a:ea typeface="Meiryo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301752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1A1A18"/>
                </a:solidFill>
                <a:latin typeface="Meiryo"/>
                <a:ea typeface="Meiryo"/>
              </a:rPr>
              <a:t>森林に占める人工林の割合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3438144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面積にしておよそ1,000万ha。</a:t>
            </a:r>
            <a:br/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スギ・ヒノキが大半を占める。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783080"/>
            <a:ext cx="3429000" cy="2606040"/>
          </a:xfrm>
          <a:prstGeom prst="roundRect">
            <a:avLst>
              <a:gd name="adj" fmla="val 5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2066543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600" b="1">
                <a:solidFill>
                  <a:srgbClr val="C88A00"/>
                </a:solidFill>
                <a:latin typeface="Consolas"/>
                <a:ea typeface="Meiryo"/>
              </a:rPr>
              <a:t>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01752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1A1A18"/>
                </a:solidFill>
                <a:latin typeface="Meiryo"/>
                <a:ea typeface="Meiryo"/>
              </a:rPr>
              <a:t>人工林の過半が達した林齢（年）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438144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多くが主伐期に入り、</a:t>
            </a:r>
            <a:br/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使わなければ立ったまま滞留する。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4892040"/>
            <a:ext cx="10863072" cy="0"/>
          </a:xfrm>
          <a:prstGeom prst="line">
            <a:avLst/>
          </a:prstGeom>
          <a:ln w="12700">
            <a:solidFill>
              <a:srgbClr val="DD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5102352"/>
            <a:ext cx="108630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A4A44"/>
                </a:solidFill>
                <a:latin typeface="Meiryo"/>
                <a:ea typeface="Meiryo"/>
              </a:rPr>
              <a:t>一斉に植えたものは、一斉に高齢化する。量も面積もすでに積み上がっていて、いま偏っているのは「齢」の方。</a:t>
            </a:r>
            <a:br/>
            <a:r>
              <a:rPr sz="1250" b="0">
                <a:solidFill>
                  <a:srgbClr val="4A4A44"/>
                </a:solidFill>
                <a:latin typeface="Meiryo"/>
                <a:ea typeface="Meiryo"/>
              </a:rPr>
              <a:t>「植えて育てる」段階から「伐って使い、また植える」段階へ移る時期にある。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8A8A80"/>
                </a:solidFill>
                <a:latin typeface="Consolas"/>
                <a:ea typeface="Meiryo"/>
              </a:rPr>
              <a:t>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800" b="1">
                <a:solidFill>
                  <a:srgbClr val="1A1A18"/>
                </a:solidFill>
                <a:latin typeface="Meiryo"/>
                <a:ea typeface="Meiryo"/>
              </a:rPr>
              <a:t>林業が直面する3つの課題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316736"/>
            <a:ext cx="10863072" cy="0"/>
          </a:xfrm>
          <a:prstGeom prst="line">
            <a:avLst/>
          </a:prstGeom>
          <a:ln w="12700">
            <a:solidFill>
              <a:srgbClr val="DD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58368" y="1783080"/>
            <a:ext cx="566928" cy="566928"/>
          </a:xfrm>
          <a:prstGeom prst="ellipse">
            <a:avLst/>
          </a:prstGeom>
          <a:solidFill>
            <a:srgbClr val="2C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Meiry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80136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1A1A18"/>
                </a:solidFill>
                <a:latin typeface="Meiryo"/>
                <a:ea typeface="Meiryo"/>
              </a:rPr>
              <a:t>担い手が減っている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224028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林業就業者は長期的に減少し、高齢化も進む。伐採・搬出の技術を継承する相手がいない。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916936"/>
            <a:ext cx="6821424" cy="0"/>
          </a:xfrm>
          <a:prstGeom prst="line">
            <a:avLst/>
          </a:prstGeom>
          <a:ln w="12700">
            <a:solidFill>
              <a:srgbClr val="DD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58368" y="3154680"/>
            <a:ext cx="566928" cy="566928"/>
          </a:xfrm>
          <a:prstGeom prst="ellipse">
            <a:avLst/>
          </a:prstGeom>
          <a:solidFill>
            <a:srgbClr val="2C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Meiry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17296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1A1A18"/>
                </a:solidFill>
                <a:latin typeface="Meiryo"/>
                <a:ea typeface="Meiryo"/>
              </a:rPr>
              <a:t>所有が小さく、分散している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61188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境界が不明な森林が多く、まとまった面積での施業に持ち込みにくい。集約化に手間がかかる。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4288536"/>
            <a:ext cx="6821424" cy="0"/>
          </a:xfrm>
          <a:prstGeom prst="line">
            <a:avLst/>
          </a:prstGeom>
          <a:ln w="12700">
            <a:solidFill>
              <a:srgbClr val="DD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58368" y="4526280"/>
            <a:ext cx="566928" cy="566928"/>
          </a:xfrm>
          <a:prstGeom prst="ellipse">
            <a:avLst/>
          </a:prstGeom>
          <a:solidFill>
            <a:srgbClr val="2C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Meiry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454456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1A1A18"/>
                </a:solidFill>
                <a:latin typeface="Meiryo"/>
                <a:ea typeface="Meiryo"/>
              </a:rPr>
              <a:t>採算が合いにくい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498348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立木価格が低迷し、伐採収入だけでは再造林のコストを回収しづらい。伐り逃げの誘因が残る。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83080"/>
            <a:ext cx="3429000" cy="3749039"/>
          </a:xfrm>
          <a:prstGeom prst="roundRect">
            <a:avLst>
              <a:gd name="adj" fmla="val 5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121408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>
                <a:solidFill>
                  <a:srgbClr val="2C7A46"/>
                </a:solidFill>
                <a:latin typeface="Meiryo"/>
                <a:ea typeface="Meiryo"/>
              </a:rPr>
              <a:t>木が足りない</a:t>
            </a:r>
            <a:br/>
            <a:r>
              <a:rPr sz="1600" b="1">
                <a:solidFill>
                  <a:srgbClr val="2C7A46"/>
                </a:solidFill>
                <a:latin typeface="Meiryo"/>
                <a:ea typeface="Meiryo"/>
              </a:rPr>
              <a:t>という話では</a:t>
            </a:r>
            <a:br/>
            <a:r>
              <a:rPr sz="1600" b="1">
                <a:solidFill>
                  <a:srgbClr val="2C7A46"/>
                </a:solidFill>
                <a:latin typeface="Meiryo"/>
                <a:ea typeface="Meiryo"/>
              </a:rPr>
              <a:t>ない。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85048" y="3749039"/>
            <a:ext cx="1463040" cy="0"/>
          </a:xfrm>
          <a:prstGeom prst="line">
            <a:avLst/>
          </a:prstGeom>
          <a:ln w="15240">
            <a:solidFill>
              <a:srgbClr val="C8C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385048" y="3968496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戦後に植えたスギ・ヒノキの多くが、いま主伐期を迎えている。</a:t>
            </a:r>
            <a:br/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/>
            </a:r>
            <a:br/>
            <a:r>
              <a:rPr sz="1100" b="0">
                <a:solidFill>
                  <a:srgbClr val="4A4A44"/>
                </a:solidFill>
                <a:latin typeface="Meiryo"/>
                <a:ea typeface="Meiryo"/>
              </a:rPr>
              <a:t>止まっているのは資源ではなく、伐って使うまでの仕組みの方。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8A8A80"/>
                </a:solidFill>
                <a:latin typeface="Consolas"/>
                <a:ea typeface="Meiryo"/>
              </a:rPr>
              <a:t>AGE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800" b="1">
                <a:solidFill>
                  <a:srgbClr val="1A1A18"/>
                </a:solidFill>
                <a:latin typeface="Meiryo"/>
                <a:ea typeface="Meiryo"/>
              </a:rPr>
              <a:t>人工林は、すでに主伐期に入っている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316736"/>
            <a:ext cx="10863072" cy="0"/>
          </a:xfrm>
          <a:prstGeom prst="line">
            <a:avLst/>
          </a:prstGeom>
          <a:ln w="12700">
            <a:solidFill>
              <a:srgbClr val="DD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291072"/>
            <a:ext cx="10863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8A8A80"/>
                </a:solidFill>
                <a:latin typeface="Meiryo"/>
                <a:ea typeface="Meiryo"/>
              </a:rPr>
              <a:t>※ 本資料はサンプルです。数値はデモ用の概数で、特定の統計を出典としたものではありません。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63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A4A44"/>
                </a:solidFill>
                <a:latin typeface="Meiryo"/>
                <a:ea typeface="Meiryo"/>
              </a:rPr>
              <a:t>齢級構成は高齢側に大きく偏っている。使わなければ、資源は立ったまま滞留する。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920240"/>
          <a:ext cx="10863072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8A8A80"/>
                </a:solidFill>
                <a:latin typeface="Consolas"/>
                <a:ea typeface="Meiryo"/>
              </a:rPr>
              <a:t>SELF-SUFFICIENCY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800" b="1">
                <a:solidFill>
                  <a:srgbClr val="1A1A18"/>
                </a:solidFill>
                <a:latin typeface="Meiryo"/>
                <a:ea typeface="Meiryo"/>
              </a:rPr>
              <a:t>木材自給率は回復してきた。ただし水準はまだ4割台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316736"/>
            <a:ext cx="10863072" cy="0"/>
          </a:xfrm>
          <a:prstGeom prst="line">
            <a:avLst/>
          </a:prstGeom>
          <a:ln w="12700">
            <a:solidFill>
              <a:srgbClr val="DD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291072"/>
            <a:ext cx="10863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8A8A80"/>
                </a:solidFill>
                <a:latin typeface="Meiryo"/>
                <a:ea typeface="Meiryo"/>
              </a:rPr>
              <a:t>※ 本資料はサンプルです。数値はデモ用の概数で、特定の統計を出典としたものではありません。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63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A4A44"/>
                </a:solidFill>
                <a:latin typeface="Meiryo"/>
                <a:ea typeface="Meiryo"/>
              </a:rPr>
              <a:t>2000年代前半を底に上昇が続く。輸入材から国産材への揺り戻しが起きている。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920240"/>
          <a:ext cx="10863072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8A8A80"/>
                </a:solidFill>
                <a:latin typeface="Consolas"/>
                <a:ea typeface="Meiryo"/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800" b="1">
                <a:solidFill>
                  <a:srgbClr val="1A1A18"/>
                </a:solidFill>
                <a:latin typeface="Meiryo"/>
                <a:ea typeface="Meiryo"/>
              </a:rPr>
              <a:t>これからの3つの打ち手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316736"/>
            <a:ext cx="10863072" cy="0"/>
          </a:xfrm>
          <a:prstGeom prst="line">
            <a:avLst/>
          </a:prstGeom>
          <a:ln w="12700">
            <a:solidFill>
              <a:srgbClr val="DD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783080"/>
            <a:ext cx="3429000" cy="2788920"/>
          </a:xfrm>
          <a:prstGeom prst="roundRect">
            <a:avLst>
              <a:gd name="adj" fmla="val 5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48256"/>
            <a:ext cx="493776" cy="493776"/>
          </a:xfrm>
          <a:prstGeom prst="ellipse">
            <a:avLst/>
          </a:prstGeom>
          <a:solidFill>
            <a:srgbClr val="2C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Meiry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761488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1A1A18"/>
                </a:solidFill>
                <a:latin typeface="Meiryo"/>
                <a:ea typeface="Meiryo"/>
              </a:rPr>
              <a:t>路網と機械化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20040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作業道を計画的に入れ、高性能林業機械で搬出する。</a:t>
            </a:r>
            <a:br/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コストが下がらなければ、伐り出す判断自体ができない。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1783080"/>
            <a:ext cx="3429000" cy="2788920"/>
          </a:xfrm>
          <a:prstGeom prst="roundRect">
            <a:avLst>
              <a:gd name="adj" fmla="val 5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81727" y="2048256"/>
            <a:ext cx="493776" cy="493776"/>
          </a:xfrm>
          <a:prstGeom prst="ellipse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Meiry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761488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1A1A18"/>
                </a:solidFill>
                <a:latin typeface="Meiryo"/>
                <a:ea typeface="Meiryo"/>
              </a:rPr>
              <a:t>確実な再造林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320040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伐ったら植える。コンテナ苗と伐採・植栽の一貫作業で</a:t>
            </a:r>
            <a:br/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植栽コストを圧縮し、伐り逃げの誘因を消す。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429000" cy="2788920"/>
          </a:xfrm>
          <a:prstGeom prst="roundRect">
            <a:avLst>
              <a:gd name="adj" fmla="val 5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94192" y="2048256"/>
            <a:ext cx="493776" cy="49377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Meiry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761488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1A1A18"/>
                </a:solidFill>
                <a:latin typeface="Meiryo"/>
                <a:ea typeface="Meiryo"/>
              </a:rPr>
              <a:t>出口をつくる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20040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中高層木造やCLTなど、国産材を量で使い切る需要を</a:t>
            </a:r>
            <a:br/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先に育てておく。出口がなければ①②は費用増で終わる。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54880"/>
            <a:ext cx="10863072" cy="1371600"/>
          </a:xfrm>
          <a:prstGeom prst="roundRect">
            <a:avLst>
              <a:gd name="adj" fmla="val 5000"/>
            </a:avLst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91947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1A1A18"/>
                </a:solidFill>
                <a:latin typeface="Meiryo"/>
                <a:ea typeface="Meiryo"/>
              </a:rPr>
              <a:t>まとめ — 「守る森」から「回す森」へ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266944"/>
            <a:ext cx="45720" cy="182880"/>
          </a:xfrm>
          <a:prstGeom prst="rect">
            <a:avLst/>
          </a:prstGeom>
          <a:solidFill>
            <a:srgbClr val="2C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524865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資源はもうある。足りないのは、伐って植えて使うまでの循環の仕組み。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559552"/>
            <a:ext cx="45720" cy="182880"/>
          </a:xfrm>
          <a:prstGeom prst="rect">
            <a:avLst/>
          </a:prstGeom>
          <a:solidFill>
            <a:srgbClr val="2C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554126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3つの打ち手は独立ではない。出口がなければ、前の2つは費用増にしかならない。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5852159"/>
            <a:ext cx="45720" cy="182880"/>
          </a:xfrm>
          <a:prstGeom prst="rect">
            <a:avLst/>
          </a:prstGeom>
          <a:solidFill>
            <a:srgbClr val="2C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83387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4A4A44"/>
                </a:solidFill>
                <a:latin typeface="Meiryo"/>
                <a:ea typeface="Meiryo"/>
              </a:rPr>
              <a:t>次の50年の森の姿は、いま植える木で決まる。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Meiryo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eiryo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